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B2B30"/>
                </a:solidFill>
                <a:latin typeface="Arial"/>
              </a:defRPr>
            </a:pPr>
            <a:r>
              <a:rPr lang="en-US" sz="1150" b="0" i="0" u="none" strike="noStrike">
                <a:solidFill>
                  <a:srgbClr val="1B2B30"/>
                </a:solidFill>
                <a:latin typeface="Arial"/>
              </a:rPr>
              <a:t>PSNR ↑ (LOLv2-real)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</c:v>
                </c:pt>
              </c:strCache>
            </c:strRef>
          </c:tx>
          <c:spPr>
            <a:solidFill>
              <a:srgbClr val="1C8C9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9E4-4C8C-8D54-23C160730AE6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E4-4C8C-8D54-23C160730AE6}"/>
              </c:ext>
            </c:extLst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9E4-4C8C-8D54-23C160730AE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S=5</c:v>
                </c:pt>
                <c:pt idx="1">
                  <c:v>S=10</c:v>
                </c:pt>
                <c:pt idx="2">
                  <c:v>Ours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26.3</c:v>
                </c:pt>
                <c:pt idx="1">
                  <c:v>25.07</c:v>
                </c:pt>
                <c:pt idx="2">
                  <c:v>26.08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9E4-4C8C-8D54-23C160730A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24"/>
        </c:scaling>
        <c:delete val="0"/>
        <c:axPos val="l"/>
        <c:majorGridlines>
          <c:spPr>
            <a:ln w="6350" cap="flat">
              <a:solidFill>
                <a:srgbClr val="EAEF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B2B30"/>
                </a:solidFill>
                <a:latin typeface="Arial"/>
              </a:defRPr>
            </a:pPr>
            <a:r>
              <a:rPr lang="en-US" sz="1150" b="0" i="0" u="none" strike="noStrike">
                <a:solidFill>
                  <a:srgbClr val="1B2B30"/>
                </a:solidFill>
                <a:latin typeface="Arial"/>
              </a:rPr>
              <a:t>LPIPS ↓ (LOLv2-real)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LPIPS</c:v>
                </c:pt>
              </c:strCache>
            </c:strRef>
          </c:tx>
          <c:spPr>
            <a:solidFill>
              <a:srgbClr val="1C8C9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DA0-4656-8D45-36B61FF440ED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DA0-4656-8D45-36B61FF440ED}"/>
              </c:ext>
            </c:extLst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DA0-4656-8D45-36B61FF440ED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S=5</c:v>
                </c:pt>
                <c:pt idx="1">
                  <c:v>S=10</c:v>
                </c:pt>
                <c:pt idx="2">
                  <c:v>Ours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0.1066</c:v>
                </c:pt>
                <c:pt idx="1">
                  <c:v>0.51949999999999996</c:v>
                </c:pt>
                <c:pt idx="2">
                  <c:v>0.10730000000000001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DA0-4656-8D45-36B61FF440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F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7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6391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6221F-D7BA-7AB6-41C6-08FE3A861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95F76-4508-DCA9-4AF0-BFE6A038A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D8B4E-294E-02B5-8EC2-12D923F42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89AF4-22F7-CC4C-E5FB-B1DA11A1EC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3695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LSP.2024.3453120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0B6E73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E8A33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0B6E73">
              <a:alpha val="6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Brightness-Aware Dynamic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DDIM Step Scheduling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9692640" cy="566928"/>
          </a:xfrm>
          <a:prstGeom prst="roundRect">
            <a:avLst>
              <a:gd name="adj" fmla="val 8065"/>
            </a:avLst>
          </a:prstGeom>
          <a:solidFill>
            <a:srgbClr val="EAF2F3"/>
          </a:solidFill>
          <a:ln w="9525">
            <a:solidFill>
              <a:srgbClr val="0B6E7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22960" y="3337560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Efficient Low-Light Image Enhancement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41248" y="411480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Janhavi P. Tidke¹  ·  Ramesh Kumar Thakur²  ·  Shashank Gupta³  ·  Tanveer Fatema Khan³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2296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NIELIT Aurangabad     ² ³ MANIT Bhopal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37160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Low-Light Image Enhancement Matters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AF2F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83080"/>
            <a:ext cx="3520440" cy="64008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2075688"/>
            <a:ext cx="594360" cy="594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6E73"/>
            </a:solidFill>
            <a:prstDash val="solid"/>
          </a:ln>
        </p:spPr>
      </p:sp>
      <p:pic>
        <p:nvPicPr>
          <p:cNvPr id="9" name="Image 0" descr="/home/claude/ppt_assets/icons/imag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402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8952" y="28072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758952" y="3291840"/>
            <a:ext cx="30632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taken in poor lighting suffer from low contrast, colour distortion, and noise — difficult to interpret manually or algorithmically.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43400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AF2F3"/>
          </a:solidFill>
          <a:ln/>
        </p:spPr>
      </p:sp>
      <p:sp>
        <p:nvSpPr>
          <p:cNvPr id="13" name="Shape 10"/>
          <p:cNvSpPr/>
          <p:nvPr/>
        </p:nvSpPr>
        <p:spPr>
          <a:xfrm>
            <a:off x="4343400" y="1783080"/>
            <a:ext cx="3520440" cy="64008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14" name="Shape 11"/>
          <p:cNvSpPr/>
          <p:nvPr/>
        </p:nvSpPr>
        <p:spPr>
          <a:xfrm>
            <a:off x="4636008" y="2075688"/>
            <a:ext cx="594360" cy="594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6E73"/>
            </a:solidFill>
            <a:prstDash val="solid"/>
          </a:ln>
        </p:spPr>
      </p:sp>
      <p:pic>
        <p:nvPicPr>
          <p:cNvPr id="15" name="Image 1" descr="/home/claude/ppt_assets/icons/search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24028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99432" y="28072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4599432" y="3291840"/>
            <a:ext cx="30632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driving, surveillance, and mobile photography are safety-critical applications where lighting conditions are uncontrollable.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183880" y="178308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EAF2F3"/>
          </a:solidFill>
          <a:ln/>
        </p:spPr>
      </p:sp>
      <p:sp>
        <p:nvSpPr>
          <p:cNvPr id="19" name="Shape 15"/>
          <p:cNvSpPr/>
          <p:nvPr/>
        </p:nvSpPr>
        <p:spPr>
          <a:xfrm>
            <a:off x="8183880" y="1783080"/>
            <a:ext cx="3520440" cy="64008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20" name="Shape 16"/>
          <p:cNvSpPr/>
          <p:nvPr/>
        </p:nvSpPr>
        <p:spPr>
          <a:xfrm>
            <a:off x="8476488" y="2075688"/>
            <a:ext cx="594360" cy="5943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B6E73"/>
            </a:solidFill>
            <a:prstDash val="solid"/>
          </a:ln>
        </p:spPr>
      </p:sp>
      <p:pic>
        <p:nvPicPr>
          <p:cNvPr id="21" name="Image 2" descr="/home/claude/ppt_assets/icons/diagram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24028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39912" y="28072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Approach</a:t>
            </a:r>
            <a:endParaRPr lang="en-US" sz="1650" dirty="0"/>
          </a:p>
        </p:txBody>
      </p:sp>
      <p:sp>
        <p:nvSpPr>
          <p:cNvPr id="23" name="Text 18"/>
          <p:cNvSpPr/>
          <p:nvPr/>
        </p:nvSpPr>
        <p:spPr>
          <a:xfrm>
            <a:off x="8439912" y="3291840"/>
            <a:ext cx="30632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GAN-based one-shot methods, diffusion models restore images step-by-step — producing sharper texture and structure.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37160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DDPM to DDIM: A Quick Primer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3566160" cy="2423160"/>
          </a:xfrm>
          <a:prstGeom prst="roundRect">
            <a:avLst>
              <a:gd name="adj" fmla="val 3019"/>
            </a:avLst>
          </a:prstGeom>
          <a:solidFill>
            <a:srgbClr val="EAF2F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91640"/>
            <a:ext cx="3566160" cy="64008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562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07592" y="1874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Process (DDPM)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587752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image is gradually corrupted with Gaussian noise over T steps until it becomes pure noise.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66160" cy="2423160"/>
          </a:xfrm>
          <a:prstGeom prst="roundRect">
            <a:avLst>
              <a:gd name="adj" fmla="val 3019"/>
            </a:avLst>
          </a:prstGeom>
          <a:solidFill>
            <a:srgbClr val="EAF2F3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691640"/>
            <a:ext cx="3566160" cy="64008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8562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48072" y="1874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— DDPM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2587752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learns to predict and remove noise step-by-step. Stochastic, needs hundreds-to-thousands of steps.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83880" y="1691640"/>
            <a:ext cx="3566160" cy="2423160"/>
          </a:xfrm>
          <a:prstGeom prst="roundRect">
            <a:avLst>
              <a:gd name="adj" fmla="val 3019"/>
            </a:avLst>
          </a:prstGeom>
          <a:solidFill>
            <a:srgbClr val="EAF2F3"/>
          </a:solidFill>
          <a:ln/>
        </p:spPr>
      </p:sp>
      <p:sp>
        <p:nvSpPr>
          <p:cNvPr id="17" name="Shape 15"/>
          <p:cNvSpPr/>
          <p:nvPr/>
        </p:nvSpPr>
        <p:spPr>
          <a:xfrm>
            <a:off x="8183880" y="1691640"/>
            <a:ext cx="3566160" cy="64008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18562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988552" y="1874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— DDIM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0" y="2587752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trained network, deterministic reverse process — allows skipping steps with equal quality, typically 5–50 steps.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37160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DLDiff: The Model We Build 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727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DLDiff extends Latent Diffusion Models (LDM) for low-light enhancement with two key additions: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AF2F3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10312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1C8C92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395728"/>
            <a:ext cx="3520440" cy="256032"/>
          </a:xfrm>
          <a:prstGeom prst="rect">
            <a:avLst/>
          </a:prstGeom>
          <a:solidFill>
            <a:srgbClr val="1C8C92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217627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VQGAN Latent Space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" y="2834640"/>
            <a:ext cx="313639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image from pixel space to compact latent representation</a:t>
            </a:r>
            <a:endParaRPr lang="en-US" sz="125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compute cost vs pixel-space diffusion</a:t>
            </a:r>
            <a:endParaRPr lang="en-US" sz="125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E compresses; Decoder D reconstructs at the end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AF2F3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210312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0B6E73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2395728"/>
            <a:ext cx="3520440" cy="256032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15" name="Text 13"/>
          <p:cNvSpPr/>
          <p:nvPr/>
        </p:nvSpPr>
        <p:spPr>
          <a:xfrm>
            <a:off x="4498848" y="217627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Prompt Module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17136" y="2834640"/>
            <a:ext cx="313639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sharpening → edges highlighted</a:t>
            </a:r>
            <a:endParaRPr lang="en-US" sz="125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Attention Block: cross-conv + dilated depth-separable conv + Contrast Channel Attention</a:t>
            </a:r>
            <a:endParaRPr lang="en-US" sz="125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structural conditioning signal fed into U-Net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92440" y="2103120"/>
            <a:ext cx="3520440" cy="3520440"/>
          </a:xfrm>
          <a:prstGeom prst="roundRect">
            <a:avLst>
              <a:gd name="adj" fmla="val 2078"/>
            </a:avLst>
          </a:prstGeom>
          <a:solidFill>
            <a:srgbClr val="EAF2F3"/>
          </a:solidFill>
          <a:ln/>
        </p:spPr>
      </p:sp>
      <p:sp>
        <p:nvSpPr>
          <p:cNvPr id="18" name="Shape 16"/>
          <p:cNvSpPr/>
          <p:nvPr/>
        </p:nvSpPr>
        <p:spPr>
          <a:xfrm>
            <a:off x="8092440" y="210312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0A5458"/>
          </a:solidFill>
          <a:ln/>
        </p:spPr>
      </p:sp>
      <p:sp>
        <p:nvSpPr>
          <p:cNvPr id="19" name="Shape 17"/>
          <p:cNvSpPr/>
          <p:nvPr/>
        </p:nvSpPr>
        <p:spPr>
          <a:xfrm>
            <a:off x="8092440" y="2395728"/>
            <a:ext cx="3520440" cy="256032"/>
          </a:xfrm>
          <a:prstGeom prst="rect">
            <a:avLst/>
          </a:prstGeom>
          <a:solidFill>
            <a:srgbClr val="0A5458"/>
          </a:solidFill>
          <a:ln/>
        </p:spPr>
      </p:sp>
      <p:sp>
        <p:nvSpPr>
          <p:cNvPr id="20" name="Text 18"/>
          <p:cNvSpPr/>
          <p:nvPr/>
        </p:nvSpPr>
        <p:spPr>
          <a:xfrm>
            <a:off x="8293608" y="217627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Content-aware Loss Group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11896" y="2834640"/>
            <a:ext cx="313639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prediction loss (standard DDPM objective)</a:t>
            </a:r>
            <a:endParaRPr lang="en-US" sz="125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+ perceptual loss for fidelity</a:t>
            </a:r>
            <a:endParaRPr lang="en-US" sz="1250" dirty="0"/>
          </a:p>
          <a:p>
            <a:pPr marL="342900" indent="-342900">
              <a:lnSpc>
                <a:spcPct val="128000"/>
              </a:lnSpc>
              <a:spcAft>
                <a:spcPts val="900"/>
              </a:spcAft>
              <a:buSzPct val="100000"/>
              <a:buChar char="●"/>
            </a:pPr>
            <a:r>
              <a:rPr lang="en-US" sz="12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Wavelet/Fourier high-frequency loss for fine detail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779008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FFF4E5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77900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DLDiff trains and evaluates at S = 5 steps — identical for every image regardless of brightness. This is the assumption we re-examine.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37160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Low-Light Enhancement Methods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155680" cy="524865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Contribution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Zero-DCE (2020)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 curve estimation per image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deterministic 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EnlightenGAN (2021)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Dual-discriminator GAN, no paired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colour on complex scenes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DDPM / DDIM (2020)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denoising; DDIM = deterministic &amp; fast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Pixel-space costly at high resolution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Latent Diffusion (2022)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 in VQGAN-compressed latent space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Generic; not LLIE-specific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DLDiff (2024)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LDM + DPM + CLG for LLIE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step count — our target 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Brightness-adaptive scheduler on frozen DLDiff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Training-free, image-adaptive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37160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Size Does Not Fit All Images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7276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diffusion-based LLIE method — including DLDiff — runs the same fixed number of denoising steps on every image, regardless of how dark it actually is.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3291840" cy="1965960"/>
          </a:xfrm>
          <a:prstGeom prst="roundRect">
            <a:avLst>
              <a:gd name="adj" fmla="val 3256"/>
            </a:avLst>
          </a:prstGeom>
          <a:solidFill>
            <a:srgbClr val="2B2B2B"/>
          </a:solidFill>
          <a:ln w="12700">
            <a:solidFill>
              <a:srgbClr val="0B6E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439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Nearly-black image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25880" y="489204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0B6E73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4892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5 steps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37760" y="2423160"/>
            <a:ext cx="3291840" cy="1965960"/>
          </a:xfrm>
          <a:prstGeom prst="roundRect">
            <a:avLst>
              <a:gd name="adj" fmla="val 3256"/>
            </a:avLst>
          </a:prstGeom>
          <a:solidFill>
            <a:srgbClr val="8A9499"/>
          </a:solidFill>
          <a:ln w="12700">
            <a:solidFill>
              <a:srgbClr val="0B6E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44439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Mildly underexposed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40680" y="489204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0B6E73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4892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5 steps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51960" y="30175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33D"/>
                </a:solidFill>
              </a:rPr>
              <a:t>=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8732520" y="2423160"/>
            <a:ext cx="3337560" cy="2971800"/>
          </a:xfrm>
          <a:prstGeom prst="roundRect">
            <a:avLst>
              <a:gd name="adj" fmla="val 2462"/>
            </a:avLst>
          </a:prstGeom>
          <a:solidFill>
            <a:srgbClr val="FFF4E5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70264" y="2642616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problem: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70264" y="3136392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compute wasted on mildly-dark images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steps on very dark images cause over-smoothing artefacts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ablation: S=10 scores worse than S=5 on LPIPS — more steps ≠ better quality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37160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Pipeline — Fig.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published in the paper:</a:t>
            </a:r>
            <a:endParaRPr lang="en-US" sz="1100" dirty="0"/>
          </a:p>
        </p:txBody>
      </p:sp>
      <p:pic>
        <p:nvPicPr>
          <p:cNvPr id="7" name="Image 0" descr="/home/claude/ppt_assets/comparison_crops/fig1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084" y="1900000"/>
            <a:ext cx="4829833" cy="42465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37160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Inference Pipeline — Visual Breakdown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6973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breakdown: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999124"/>
            <a:ext cx="1722120" cy="1691640"/>
          </a:xfrm>
          <a:prstGeom prst="roundRect">
            <a:avLst>
              <a:gd name="adj" fmla="val 3243"/>
            </a:avLst>
          </a:prstGeom>
          <a:solidFill>
            <a:srgbClr val="EAF2F3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3127140"/>
            <a:ext cx="1722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Low-light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776364"/>
            <a:ext cx="1447800" cy="0"/>
          </a:xfrm>
          <a:prstGeom prst="line">
            <a:avLst/>
          </a:prstGeom>
          <a:noFill/>
          <a:ln w="9525">
            <a:solidFill>
              <a:srgbClr val="C5D9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867804"/>
            <a:ext cx="1722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206752" y="369864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389632" y="2999124"/>
            <a:ext cx="1722120" cy="1691640"/>
          </a:xfrm>
          <a:prstGeom prst="roundRect">
            <a:avLst>
              <a:gd name="adj" fmla="val 3243"/>
            </a:avLst>
          </a:prstGeom>
          <a:solidFill>
            <a:srgbClr val="EAF2F3"/>
          </a:solidFill>
          <a:ln/>
        </p:spPr>
      </p:sp>
      <p:sp>
        <p:nvSpPr>
          <p:cNvPr id="15" name="Text 12"/>
          <p:cNvSpPr/>
          <p:nvPr/>
        </p:nvSpPr>
        <p:spPr>
          <a:xfrm>
            <a:off x="2389632" y="3127140"/>
            <a:ext cx="1722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 + VQGAN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526792" y="3776364"/>
            <a:ext cx="1447800" cy="0"/>
          </a:xfrm>
          <a:prstGeom prst="line">
            <a:avLst/>
          </a:prstGeom>
          <a:noFill/>
          <a:ln w="9525">
            <a:solidFill>
              <a:srgbClr val="C5D9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89632" y="3867804"/>
            <a:ext cx="1722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z = E(y)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093464" y="369864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276344" y="2999124"/>
            <a:ext cx="1722120" cy="1691640"/>
          </a:xfrm>
          <a:prstGeom prst="roundRect">
            <a:avLst>
              <a:gd name="adj" fmla="val 3243"/>
            </a:avLst>
          </a:prstGeom>
          <a:solidFill>
            <a:srgbClr val="0B6E73"/>
          </a:solidFill>
          <a:ln/>
        </p:spPr>
      </p:sp>
      <p:sp>
        <p:nvSpPr>
          <p:cNvPr id="20" name="Text 17"/>
          <p:cNvSpPr/>
          <p:nvPr/>
        </p:nvSpPr>
        <p:spPr>
          <a:xfrm>
            <a:off x="4276344" y="3127140"/>
            <a:ext cx="1722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Luminance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Estimator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413504" y="3776364"/>
            <a:ext cx="1447800" cy="0"/>
          </a:xfrm>
          <a:prstGeom prst="line">
            <a:avLst/>
          </a:prstGeom>
          <a:noFill/>
          <a:ln w="9525">
            <a:solidFill>
              <a:srgbClr val="5BADB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76344" y="3867804"/>
            <a:ext cx="1722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D4E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∈ [0,1]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80176" y="369864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163056" y="2999124"/>
            <a:ext cx="1722120" cy="1691640"/>
          </a:xfrm>
          <a:prstGeom prst="roundRect">
            <a:avLst>
              <a:gd name="adj" fmla="val 3243"/>
            </a:avLst>
          </a:prstGeom>
          <a:solidFill>
            <a:srgbClr val="0B6E73"/>
          </a:solidFill>
          <a:ln/>
        </p:spPr>
      </p:sp>
      <p:sp>
        <p:nvSpPr>
          <p:cNvPr id="25" name="Text 22"/>
          <p:cNvSpPr/>
          <p:nvPr/>
        </p:nvSpPr>
        <p:spPr>
          <a:xfrm>
            <a:off x="6163056" y="3127140"/>
            <a:ext cx="1722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00216" y="3776364"/>
            <a:ext cx="1447800" cy="0"/>
          </a:xfrm>
          <a:prstGeom prst="line">
            <a:avLst/>
          </a:prstGeom>
          <a:noFill/>
          <a:ln w="9525">
            <a:solidFill>
              <a:srgbClr val="5BADB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63056" y="3867804"/>
            <a:ext cx="1722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D4E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∈ {4,5,6}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866888" y="369864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</a:rPr>
              <a:t>→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049768" y="2999124"/>
            <a:ext cx="1722120" cy="1691640"/>
          </a:xfrm>
          <a:prstGeom prst="roundRect">
            <a:avLst>
              <a:gd name="adj" fmla="val 3243"/>
            </a:avLst>
          </a:prstGeom>
          <a:solidFill>
            <a:srgbClr val="EAF2F3"/>
          </a:solidFill>
          <a:ln/>
        </p:spPr>
      </p:sp>
      <p:sp>
        <p:nvSpPr>
          <p:cNvPr id="30" name="Text 27"/>
          <p:cNvSpPr/>
          <p:nvPr/>
        </p:nvSpPr>
        <p:spPr>
          <a:xfrm>
            <a:off x="8049768" y="3127140"/>
            <a:ext cx="1722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86928" y="3776364"/>
            <a:ext cx="1447800" cy="0"/>
          </a:xfrm>
          <a:prstGeom prst="line">
            <a:avLst/>
          </a:prstGeom>
          <a:noFill/>
          <a:ln w="9525">
            <a:solidFill>
              <a:srgbClr val="C5D9D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049768" y="3867804"/>
            <a:ext cx="1722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iterations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753600" y="3698640"/>
            <a:ext cx="18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33D"/>
                </a:solidFill>
              </a:rPr>
              <a:t>→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9936480" y="2999124"/>
            <a:ext cx="1722120" cy="1691640"/>
          </a:xfrm>
          <a:prstGeom prst="roundRect">
            <a:avLst>
              <a:gd name="adj" fmla="val 3243"/>
            </a:avLst>
          </a:prstGeom>
          <a:solidFill>
            <a:srgbClr val="EAF2F3"/>
          </a:solidFill>
          <a:ln/>
        </p:spPr>
      </p:sp>
      <p:sp>
        <p:nvSpPr>
          <p:cNvPr id="35" name="Text 32"/>
          <p:cNvSpPr/>
          <p:nvPr/>
        </p:nvSpPr>
        <p:spPr>
          <a:xfrm>
            <a:off x="9936480" y="3127140"/>
            <a:ext cx="1722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VQGAN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10073640" y="3776364"/>
            <a:ext cx="1447800" cy="0"/>
          </a:xfrm>
          <a:prstGeom prst="line">
            <a:avLst/>
          </a:prstGeom>
          <a:noFill/>
          <a:ln w="9525">
            <a:solidFill>
              <a:srgbClr val="C5D9D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936480" y="3867804"/>
            <a:ext cx="1722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D(x₀)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02920" y="4827924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our training-free additions   •   </a:t>
            </a:r>
            <a:r>
              <a:rPr lang="en-US" sz="1050" b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</a:t>
            </a: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frozen DLDiff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37160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 — STEP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Per-Image Brightness Estimation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27632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0B6E73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27632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 =  0.299 R̄  +  0.587 Ḡ  +  0.114 B̄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315468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AF2F3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3154680"/>
            <a:ext cx="3520440" cy="54864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3337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Formula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0664" y="38862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Widely-used weighted-grayscale (luma) formula from image/video processing — not invented here.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43400" y="315468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AF2F3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3154680"/>
            <a:ext cx="3520440" cy="54864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14" name="Text 12"/>
          <p:cNvSpPr/>
          <p:nvPr/>
        </p:nvSpPr>
        <p:spPr>
          <a:xfrm>
            <a:off x="4581144" y="3337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Green Highest?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81144" y="38862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photoreceptors are most sensitive to green light (0.587). Matches perceived brightness, not just raw pixels.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83880" y="315468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EAF2F3"/>
          </a:solidFill>
          <a:ln/>
        </p:spPr>
      </p:sp>
      <p:sp>
        <p:nvSpPr>
          <p:cNvPr id="17" name="Shape 15"/>
          <p:cNvSpPr/>
          <p:nvPr/>
        </p:nvSpPr>
        <p:spPr>
          <a:xfrm>
            <a:off x="8183880" y="3154680"/>
            <a:ext cx="3520440" cy="54864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18" name="Text 16"/>
          <p:cNvSpPr/>
          <p:nvPr/>
        </p:nvSpPr>
        <p:spPr>
          <a:xfrm>
            <a:off x="8421624" y="3337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Overhead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21624" y="388620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pass over normalised pixel values — negligible cost next to even one denoising step.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37160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 — STEP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Step Scheduler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727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score B is compared against dataset brightness percentiles τ1 (P25), τ2 (P50), τ3 (P75):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0B6E7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677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Dark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0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&lt; τ1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4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777240" y="4023360"/>
            <a:ext cx="2057400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4114800"/>
            <a:ext cx="2386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LOLv2: τ1=0.034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LSRW: τ1=0.045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64992" y="21031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1C8C92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22677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64992" y="2651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0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τ1 ≤ B &lt; τ2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64992" y="30632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4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639312" y="4023360"/>
            <a:ext cx="2057400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4114800"/>
            <a:ext cx="2386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LOLv2: τ2=0.047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LSRW: τ2=0.078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27064" y="21031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3FA1A8"/>
          </a:solidFill>
          <a:ln/>
        </p:spPr>
      </p:sp>
      <p:sp>
        <p:nvSpPr>
          <p:cNvPr id="20" name="Text 18"/>
          <p:cNvSpPr/>
          <p:nvPr/>
        </p:nvSpPr>
        <p:spPr>
          <a:xfrm>
            <a:off x="6227064" y="22677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27064" y="2651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0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τ2 ≤ B &lt; τ3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27064" y="30632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5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6501384" y="4023360"/>
            <a:ext cx="2057400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6792" y="4114800"/>
            <a:ext cx="2386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LOLv2: τ3=0.075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LSRW: τ3=0.154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89136" y="21031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9089136" y="22677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89136" y="26517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0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≥ τ3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089136" y="306324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6</a:t>
            </a:r>
            <a:endParaRPr lang="en-US" sz="3600" dirty="0"/>
          </a:p>
        </p:txBody>
      </p:sp>
      <p:sp>
        <p:nvSpPr>
          <p:cNvPr id="29" name="Shape 27"/>
          <p:cNvSpPr/>
          <p:nvPr/>
        </p:nvSpPr>
        <p:spPr>
          <a:xfrm>
            <a:off x="9363456" y="4023360"/>
            <a:ext cx="2057400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98864" y="4114800"/>
            <a:ext cx="238658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refinement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0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here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5029200"/>
            <a:ext cx="11155680" cy="777240"/>
          </a:xfrm>
          <a:prstGeom prst="roundRect">
            <a:avLst>
              <a:gd name="adj" fmla="val 8235"/>
            </a:avLst>
          </a:prstGeom>
          <a:solidFill>
            <a:srgbClr val="EAF2F3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0292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step count:   </a:t>
            </a:r>
            <a:r>
              <a:rPr lang="en-US" sz="1700" b="1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S̄ = 0.50(4) + 0.25(5) + 0.25(6) = 4.75 steps</a:t>
            </a:r>
            <a:r>
              <a:rPr lang="en-US" sz="13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each tier always 25% of images.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37160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Rationale — Why {4, 4, 5, 6}?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1155680" cy="960120"/>
          </a:xfrm>
          <a:prstGeom prst="roundRect">
            <a:avLst>
              <a:gd name="adj" fmla="val 6667"/>
            </a:avLst>
          </a:prstGeom>
          <a:solidFill>
            <a:srgbClr val="EAF2F3"/>
          </a:solidFill>
          <a:ln w="7620">
            <a:solidFill>
              <a:srgbClr val="DCE7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91640"/>
            <a:ext cx="3429000" cy="960120"/>
          </a:xfrm>
          <a:prstGeom prst="roundRect">
            <a:avLst>
              <a:gd name="adj" fmla="val 6667"/>
            </a:avLst>
          </a:prstGeom>
          <a:solidFill>
            <a:srgbClr val="0B6E7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916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S=5 anchor?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60520" y="1746504"/>
            <a:ext cx="7223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DLDiff's denoiser was trained and calibrated specifically for 5 steps — our natural reference point.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770632"/>
            <a:ext cx="111556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620">
            <a:solidFill>
              <a:srgbClr val="DCE7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770632"/>
            <a:ext cx="3429000" cy="960120"/>
          </a:xfrm>
          <a:prstGeom prst="roundRect">
            <a:avLst>
              <a:gd name="adj" fmla="val 6667"/>
            </a:avLst>
          </a:prstGeom>
          <a:solidFill>
            <a:srgbClr val="1C8C9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7063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S=4 for darkest?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160520" y="2825496"/>
            <a:ext cx="7223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beyond training cause marginal, often harmful updates — fine structure is smoothed away on dark images.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849624"/>
            <a:ext cx="11155680" cy="960120"/>
          </a:xfrm>
          <a:prstGeom prst="roundRect">
            <a:avLst>
              <a:gd name="adj" fmla="val 6667"/>
            </a:avLst>
          </a:prstGeom>
          <a:solidFill>
            <a:srgbClr val="EAF2F3"/>
          </a:solidFill>
          <a:ln w="7620">
            <a:solidFill>
              <a:srgbClr val="DCE7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849624"/>
            <a:ext cx="3429000" cy="960120"/>
          </a:xfrm>
          <a:prstGeom prst="roundRect">
            <a:avLst>
              <a:gd name="adj" fmla="val 6667"/>
            </a:avLst>
          </a:prstGeom>
          <a:solidFill>
            <a:srgbClr val="0B6E7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49624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S=6 only for mildest?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160520" y="3904488"/>
            <a:ext cx="7223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close to target are already mostly corrected; a small extra step is safe and genuinely helpful.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928616"/>
            <a:ext cx="1115568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620">
            <a:solidFill>
              <a:srgbClr val="DCE7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928616"/>
            <a:ext cx="3429000" cy="960120"/>
          </a:xfrm>
          <a:prstGeom prst="roundRect">
            <a:avLst>
              <a:gd name="adj" fmla="val 6667"/>
            </a:avLst>
          </a:prstGeom>
          <a:solidFill>
            <a:srgbClr val="1C8C9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928616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percentile thresholds?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160520" y="4983480"/>
            <a:ext cx="722376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P25/P50/P75 splits ensure balanced 25% tiers — self-calibrating to any dataset, zero manual tuning.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37160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Datasets, Metrics &amp; Setup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EAF2F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9164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0B6E73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93392"/>
            <a:ext cx="3520440" cy="27432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70992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40664" y="2395728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LOLv2-real: 100 low/normal-light pairs (indoor + outdoor)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LSRW: 50 pairs — 20 Nikon + 30 Huawei, 960×720 / 960×640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16916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EAF2F3"/>
          </a:solidFill>
          <a:ln/>
        </p:spPr>
      </p:sp>
      <p:sp>
        <p:nvSpPr>
          <p:cNvPr id="12" name="Shape 10"/>
          <p:cNvSpPr/>
          <p:nvPr/>
        </p:nvSpPr>
        <p:spPr>
          <a:xfrm>
            <a:off x="4206240" y="169164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C8C92"/>
          </a:solidFill>
          <a:ln/>
        </p:spPr>
      </p:sp>
      <p:sp>
        <p:nvSpPr>
          <p:cNvPr id="13" name="Shape 11"/>
          <p:cNvSpPr/>
          <p:nvPr/>
        </p:nvSpPr>
        <p:spPr>
          <a:xfrm>
            <a:off x="4206240" y="1993392"/>
            <a:ext cx="3520440" cy="274320"/>
          </a:xfrm>
          <a:prstGeom prst="rect">
            <a:avLst/>
          </a:prstGeom>
          <a:solidFill>
            <a:srgbClr val="1C8C92"/>
          </a:solidFill>
          <a:ln/>
        </p:spPr>
      </p:sp>
      <p:sp>
        <p:nvSpPr>
          <p:cNvPr id="14" name="Text 12"/>
          <p:cNvSpPr/>
          <p:nvPr/>
        </p:nvSpPr>
        <p:spPr>
          <a:xfrm>
            <a:off x="4425696" y="1709928"/>
            <a:ext cx="3154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443984" y="2395728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↑ — distortion metric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↑ — structural similarity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LPIPS ↓ — perceptual similarity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 (s/image) 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09560" y="1691640"/>
            <a:ext cx="3749040" cy="4572000"/>
          </a:xfrm>
          <a:prstGeom prst="roundRect">
            <a:avLst>
              <a:gd name="adj" fmla="val 1951"/>
            </a:avLst>
          </a:prstGeom>
          <a:solidFill>
            <a:srgbClr val="EAF2F3"/>
          </a:solidFill>
          <a:ln/>
        </p:spPr>
      </p:sp>
      <p:sp>
        <p:nvSpPr>
          <p:cNvPr id="17" name="Shape 15"/>
          <p:cNvSpPr/>
          <p:nvPr/>
        </p:nvSpPr>
        <p:spPr>
          <a:xfrm>
            <a:off x="7909560" y="1691640"/>
            <a:ext cx="3749040" cy="566928"/>
          </a:xfrm>
          <a:prstGeom prst="roundRect">
            <a:avLst>
              <a:gd name="adj" fmla="val 12903"/>
            </a:avLst>
          </a:prstGeom>
          <a:solidFill>
            <a:srgbClr val="0A5458"/>
          </a:solidFill>
          <a:ln/>
        </p:spPr>
      </p:sp>
      <p:sp>
        <p:nvSpPr>
          <p:cNvPr id="18" name="Shape 16"/>
          <p:cNvSpPr/>
          <p:nvPr/>
        </p:nvSpPr>
        <p:spPr>
          <a:xfrm>
            <a:off x="7909560" y="1993392"/>
            <a:ext cx="3749040" cy="274320"/>
          </a:xfrm>
          <a:prstGeom prst="rect">
            <a:avLst/>
          </a:prstGeom>
          <a:solidFill>
            <a:srgbClr val="0A5458"/>
          </a:solidFill>
          <a:ln/>
        </p:spPr>
      </p:sp>
      <p:sp>
        <p:nvSpPr>
          <p:cNvPr id="19" name="Text 17"/>
          <p:cNvSpPr/>
          <p:nvPr/>
        </p:nvSpPr>
        <p:spPr>
          <a:xfrm>
            <a:off x="8129016" y="1709928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147304" y="2395728"/>
            <a:ext cx="33375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T4 GPU, public DLDiff checkpoint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 — fully training-free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Percentiles computed per test set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Baselines: fixed S=5 and S=10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37160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1 — Quantitative Comparison on LOLv2-real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27632"/>
          <a:ext cx="11155680" cy="3657600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 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LPIPS 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(s) 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Zero-DCE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CVPR'20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EnlightenGAN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TIP'21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LLFormer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AAAI'23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CLIP-Lit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ICCV'23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DLDiff†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LSP'24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DLDiff S=10 (repro.)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(S̄=4.75)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41324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Original paper result; all others reproduced on Kaggle T4 GPU under identical conditions.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5779008"/>
            <a:ext cx="11155680" cy="566928"/>
          </a:xfrm>
          <a:prstGeom prst="roundRect">
            <a:avLst>
              <a:gd name="adj" fmla="val 11290"/>
            </a:avLst>
          </a:prstGeom>
          <a:solidFill>
            <a:srgbClr val="0B6E73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577900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matches S=10 on PSNR/SSIM, wins decisively on LPIPS (0.107 vs 0.520), at 2.637s vs 4.457s — 40–45% faster.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37160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Comparison Across Both Benchmarks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1481328"/>
            <a:ext cx="9921240" cy="365760"/>
          </a:xfrm>
          <a:prstGeom prst="roundRect">
            <a:avLst>
              <a:gd name="adj" fmla="val 10000"/>
            </a:avLst>
          </a:prstGeom>
          <a:solidFill>
            <a:srgbClr val="EAF2F3"/>
          </a:solidFill>
          <a:ln/>
        </p:spPr>
      </p:sp>
      <p:sp>
        <p:nvSpPr>
          <p:cNvPr id="7" name="Text 5"/>
          <p:cNvSpPr/>
          <p:nvPr/>
        </p:nvSpPr>
        <p:spPr>
          <a:xfrm>
            <a:off x="1783080" y="1481328"/>
            <a:ext cx="24803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Low-light Input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263390" y="1481328"/>
            <a:ext cx="24803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43700" y="1481328"/>
            <a:ext cx="24803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DLDiff (S=10)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224010" y="1481328"/>
            <a:ext cx="24803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(Dynamic)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1920240"/>
            <a:ext cx="1234440" cy="1627632"/>
          </a:xfrm>
          <a:prstGeom prst="roundRect">
            <a:avLst>
              <a:gd name="adj" fmla="val 4444"/>
            </a:avLst>
          </a:prstGeom>
          <a:solidFill>
            <a:srgbClr val="0B6E73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411480" y="1920240"/>
            <a:ext cx="123444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LOLv2‑real</a:t>
            </a:r>
            <a:endParaRPr lang="en-US" sz="1450" dirty="0"/>
          </a:p>
        </p:txBody>
      </p:sp>
      <p:pic>
        <p:nvPicPr>
          <p:cNvPr id="13" name="Image 0" descr="/home/claude/ppt_assets/comparison_crops/lolv2_p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920240"/>
            <a:ext cx="9921240" cy="135331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11480" y="3794760"/>
            <a:ext cx="1234440" cy="1627632"/>
          </a:xfrm>
          <a:prstGeom prst="roundRect">
            <a:avLst>
              <a:gd name="adj" fmla="val 4444"/>
            </a:avLst>
          </a:prstGeom>
          <a:solidFill>
            <a:srgbClr val="1C8C92"/>
          </a:solidFill>
          <a:ln/>
        </p:spPr>
      </p:sp>
      <p:sp>
        <p:nvSpPr>
          <p:cNvPr id="15" name="Text 12"/>
          <p:cNvSpPr/>
          <p:nvPr/>
        </p:nvSpPr>
        <p:spPr>
          <a:xfrm rot="16200000">
            <a:off x="411480" y="3794760"/>
            <a:ext cx="123444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LSRW</a:t>
            </a:r>
            <a:endParaRPr lang="en-US" sz="1450" dirty="0"/>
          </a:p>
        </p:txBody>
      </p:sp>
      <p:pic>
        <p:nvPicPr>
          <p:cNvPr id="16" name="Image 1" descr="/home/claude/ppt_assets/comparison_crops/lsrw_p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3794760"/>
            <a:ext cx="9921240" cy="14630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783080" y="5870448"/>
            <a:ext cx="9921240" cy="502920"/>
          </a:xfrm>
          <a:prstGeom prst="roundRect">
            <a:avLst>
              <a:gd name="adj" fmla="val 10909"/>
            </a:avLst>
          </a:prstGeom>
          <a:solidFill>
            <a:srgbClr val="FFF4E5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965960" y="5870448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 avoids the over-smoothing visible in S=10 outputs, while matching ground-truth colour and structure.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37160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2 — Fixed vs. Dynamic Step Counts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3619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LOLv2-real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47088"/>
          <a:ext cx="5394960" cy="15666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 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LPIPS 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(s) 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DLDiff S=5 (repro.)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DLDiff S=10 (repro.)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(S̄=4.75)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63640" y="153619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LSRW</a:t>
            </a:r>
            <a:endParaRPr lang="en-US" sz="13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47088"/>
          <a:ext cx="5486400" cy="149961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 ↑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LPIPS 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(s) 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E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DLDiff S=5 (repro.)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DLDiff S=10 (repro.)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(S̄=4.75)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B6E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Chart 0"/>
          <p:cNvGraphicFramePr/>
          <p:nvPr/>
        </p:nvGraphicFramePr>
        <p:xfrm>
          <a:off x="502920" y="3566160"/>
          <a:ext cx="53949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"/>
          <p:cNvGraphicFramePr/>
          <p:nvPr/>
        </p:nvGraphicFramePr>
        <p:xfrm>
          <a:off x="6263640" y="3566160"/>
          <a:ext cx="53949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6"/>
          <p:cNvSpPr/>
          <p:nvPr/>
        </p:nvSpPr>
        <p:spPr>
          <a:xfrm>
            <a:off x="502920" y="5742432"/>
            <a:ext cx="11155680" cy="502920"/>
          </a:xfrm>
          <a:prstGeom prst="roundRect">
            <a:avLst>
              <a:gd name="adj" fmla="val 12727"/>
            </a:avLst>
          </a:prstGeom>
          <a:solidFill>
            <a:srgbClr val="0B6E73"/>
          </a:solidFill>
          <a:ln/>
        </p:spPr>
      </p:sp>
      <p:sp>
        <p:nvSpPr>
          <p:cNvPr id="13" name="Text 7"/>
          <p:cNvSpPr/>
          <p:nvPr/>
        </p:nvSpPr>
        <p:spPr>
          <a:xfrm>
            <a:off x="777240" y="574243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S=10 drops below S=5 on both metrics — confirming step count and quality are NOT monotonically related.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137160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What Comes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EAF2F3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9164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0B6E73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984248"/>
            <a:ext cx="5349240" cy="27432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0992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9808" y="2395728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brightness-aware dynamic DDIM scheduler on frozen DLDiff — zero retraining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Per-image luminance assigned to {4,4,5,6} steps via percentile thresholds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4.75 steps matches S=10 on PSNR; 5× better on LPIPS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40–45% reduction in inference time vs fixed S=10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1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step count and quality are NOT monotonically related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FFF4E5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691640"/>
            <a:ext cx="5532120" cy="566928"/>
          </a:xfrm>
          <a:prstGeom prst="roundRect">
            <a:avLst>
              <a:gd name="adj" fmla="val 12903"/>
            </a:avLst>
          </a:prstGeom>
          <a:solidFill>
            <a:srgbClr val="E8A33D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1984248"/>
            <a:ext cx="5532120" cy="2743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373368" y="170992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73368" y="2395728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other diffusion restoration tasks: dehazing, super-resolution, deblurring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brightness-to-step mapping replacing fixed percentile thresholds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Region-/patch-aware scheduling for spatially uneven lighting (bright sky + dark foreground)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1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real-time / edge deployment scenarios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C8634-CB8B-D50A-D189-04ED4227B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9666FAE-03B8-927F-9486-149CF395FF01}"/>
              </a:ext>
            </a:extLst>
          </p:cNvPr>
          <p:cNvSpPr/>
          <p:nvPr/>
        </p:nvSpPr>
        <p:spPr>
          <a:xfrm>
            <a:off x="0" y="0"/>
            <a:ext cx="128016" cy="1371600"/>
          </a:xfrm>
          <a:prstGeom prst="rect">
            <a:avLst/>
          </a:prstGeom>
          <a:solidFill>
            <a:srgbClr val="0B6E7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A63E5C-A0D8-4384-7C12-156867C92DDF}"/>
              </a:ext>
            </a:extLst>
          </p:cNvPr>
          <p:cNvSpPr/>
          <p:nvPr/>
        </p:nvSpPr>
        <p:spPr>
          <a:xfrm>
            <a:off x="502920" y="2926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1A3DC7-3269-202E-6373-694C528A6763}"/>
              </a:ext>
            </a:extLst>
          </p:cNvPr>
          <p:cNvSpPr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30"/>
                </a:solidFill>
                <a:latin typeface="Cambria" pitchFamily="34" charset="0"/>
                <a:ea typeface="Cambria" pitchFamily="34" charset="-122"/>
              </a:rPr>
              <a:t>REFERENCES USED</a:t>
            </a: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FA4DE18-D3E9-CD20-31CF-DC6434BAA7D8}"/>
              </a:ext>
            </a:extLst>
          </p:cNvPr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DCE7E8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D705771-9877-7413-336E-33210DF992C8}"/>
              </a:ext>
            </a:extLst>
          </p:cNvPr>
          <p:cNvSpPr/>
          <p:nvPr/>
        </p:nvSpPr>
        <p:spPr>
          <a:xfrm>
            <a:off x="749808" y="170992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BBBDE5F-0293-DB83-D842-87929E73A5B2}"/>
              </a:ext>
            </a:extLst>
          </p:cNvPr>
          <p:cNvSpPr/>
          <p:nvPr/>
        </p:nvSpPr>
        <p:spPr>
          <a:xfrm>
            <a:off x="749808" y="2395728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100"/>
              </a:spcAft>
              <a:buSzPct val="100000"/>
              <a:buChar char="●"/>
            </a:pP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17107A3-4F26-4172-A9FC-C92F6254DA8B}"/>
              </a:ext>
            </a:extLst>
          </p:cNvPr>
          <p:cNvSpPr/>
          <p:nvPr/>
        </p:nvSpPr>
        <p:spPr>
          <a:xfrm>
            <a:off x="880872" y="1609344"/>
            <a:ext cx="10777728" cy="4572000"/>
          </a:xfrm>
          <a:prstGeom prst="roundRect">
            <a:avLst>
              <a:gd name="adj" fmla="val 1600"/>
            </a:avLst>
          </a:prstGeom>
          <a:solidFill>
            <a:srgbClr val="FFF4E5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pPr marL="228600" indent="-228600">
              <a:buAutoNum type="arabicPeriod"/>
            </a:pPr>
            <a:r>
              <a:rPr lang="en-US" sz="1600" dirty="0"/>
              <a:t>Ho, J., Jain, A., </a:t>
            </a:r>
            <a:r>
              <a:rPr lang="en-US" sz="1600" dirty="0" err="1"/>
              <a:t>Abbeel</a:t>
            </a:r>
            <a:r>
              <a:rPr lang="en-US" sz="1600" dirty="0"/>
              <a:t>, P.: Denoising diffusion probabilistic models. Advances in Neural Information Processing Systems 33, 6840–6851 (2020) </a:t>
            </a:r>
          </a:p>
          <a:p>
            <a:pPr marL="228600" indent="-228600">
              <a:buAutoNum type="arabicPeriod"/>
            </a:pPr>
            <a:r>
              <a:rPr lang="en-US" sz="1600" dirty="0"/>
              <a:t> Guo, C., Li, C., Guo, J., Loy, C.C., Hou, J., Kwong, S., Cong, R.: Zero-reference deep curve estimation for low-light image enhancement. In: Proc. CVPR, pp. 1780–1789 (2020)</a:t>
            </a:r>
          </a:p>
          <a:p>
            <a:pPr marL="228600" indent="-228600">
              <a:buAutoNum type="arabicPeriod"/>
            </a:pPr>
            <a:r>
              <a:rPr lang="en-US" sz="1600" dirty="0"/>
              <a:t> Jiang, Y., Gong, X., Liu, D., Cheng, Y., Fang, C., Shen, X., Yang, J., Zhou, P., Wang, Z.: </a:t>
            </a:r>
            <a:r>
              <a:rPr lang="en-US" sz="1600" dirty="0" err="1"/>
              <a:t>EnlightenGAN</a:t>
            </a:r>
            <a:r>
              <a:rPr lang="en-US" sz="1600" dirty="0"/>
              <a:t>: Deep light enhancement without paired supervision. IEEE Transactions on Image Processing 30, 2340–2349 (2021)</a:t>
            </a:r>
          </a:p>
          <a:p>
            <a:pPr marL="228600" indent="-228600">
              <a:buAutoNum type="arabicPeriod"/>
            </a:pPr>
            <a:r>
              <a:rPr lang="en-US" sz="1600" dirty="0"/>
              <a:t>Rombach, R., </a:t>
            </a:r>
            <a:r>
              <a:rPr lang="en-US" sz="1600" dirty="0" err="1"/>
              <a:t>Blattmann</a:t>
            </a:r>
            <a:r>
              <a:rPr lang="en-US" sz="1600" dirty="0"/>
              <a:t>, A., Lorenz, D., Esser, P., </a:t>
            </a:r>
            <a:r>
              <a:rPr lang="en-US" sz="1600" dirty="0" err="1"/>
              <a:t>Ommer</a:t>
            </a:r>
            <a:r>
              <a:rPr lang="en-US" sz="1600" dirty="0"/>
              <a:t>, B.: High-resolution image synthesis with latent diffusion models. In: Proc. CVPR, pp. 10684–10695 (2022)</a:t>
            </a:r>
          </a:p>
          <a:p>
            <a:pPr marL="228600" indent="-228600">
              <a:buAutoNum type="arabicPeriod"/>
            </a:pPr>
            <a:r>
              <a:rPr lang="en-US" sz="1600" dirty="0"/>
              <a:t>Xue, M., He, Y., He, J., Zhong, S.: </a:t>
            </a:r>
            <a:r>
              <a:rPr lang="en-US" sz="1600" dirty="0" err="1"/>
              <a:t>DLDiff</a:t>
            </a:r>
            <a:r>
              <a:rPr lang="en-US" sz="1600" dirty="0"/>
              <a:t>: Image detail-guided latent diffusion model for low-light image enhancement. IEEE Signal Processing Letters 31, 2255–2259 (2024). </a:t>
            </a:r>
            <a:r>
              <a:rPr lang="en-US" sz="1600" dirty="0">
                <a:hlinkClick r:id="rId3"/>
              </a:rPr>
              <a:t>https://doi.org/10.1109/LSP.2024.3453120</a:t>
            </a:r>
            <a:endParaRPr lang="en-US" sz="1600" dirty="0"/>
          </a:p>
          <a:p>
            <a:pPr marL="228600" indent="-228600">
              <a:buAutoNum type="arabicPeriod"/>
            </a:pPr>
            <a:r>
              <a:rPr lang="en-US" sz="1600" dirty="0"/>
              <a:t>Esser, P., Rombach, R., </a:t>
            </a:r>
            <a:r>
              <a:rPr lang="en-US" sz="1600" dirty="0" err="1"/>
              <a:t>Ommer</a:t>
            </a:r>
            <a:r>
              <a:rPr lang="en-US" sz="1600" dirty="0"/>
              <a:t>, B.: Taming transformers for high-resolution image synthesis. In: Proc. CVPR, pp. 12873–12883 (2021)</a:t>
            </a:r>
          </a:p>
          <a:p>
            <a:pPr marL="228600" indent="-228600">
              <a:buAutoNum type="arabicPeriod"/>
            </a:pPr>
            <a:r>
              <a:rPr lang="en-US" sz="1600" dirty="0"/>
              <a:t>Yang, W., Wang, W., Huang, H., Wang, S., Liu, J.: Sparse gradient regularized deep </a:t>
            </a:r>
            <a:r>
              <a:rPr lang="en-US" sz="1600" dirty="0" err="1"/>
              <a:t>Retinex</a:t>
            </a:r>
            <a:r>
              <a:rPr lang="en-US" sz="1600" dirty="0"/>
              <a:t> network for robust low-light image enhancement. IEEE Transactions on Image Processing 30, 2072–2086 (2021)</a:t>
            </a:r>
          </a:p>
          <a:p>
            <a:pPr marL="228600" indent="-228600">
              <a:buAutoNum type="arabicPeriod"/>
            </a:pPr>
            <a:r>
              <a:rPr lang="en-US" sz="1600" dirty="0"/>
              <a:t>Hai, J., Yan, Z., Tang, C., Huang, Y., Wang, S., Wang, H.: R2RNet: Low-light image enhancement via real-low to real-normal network. Journal of Visual Communication and Image Representation 90, 103712 (2023)</a:t>
            </a:r>
          </a:p>
          <a:p>
            <a:pPr marL="228600" indent="-228600">
              <a:buAutoNum type="arabicPeriod"/>
            </a:pPr>
            <a:r>
              <a:rPr lang="en-US" sz="1600" dirty="0"/>
              <a:t>Song, J., Meng, C., Ermon, S.: Denoising diffusion implicit models. </a:t>
            </a:r>
            <a:r>
              <a:rPr lang="en-US" sz="1600" dirty="0" err="1"/>
              <a:t>arXiv</a:t>
            </a:r>
            <a:r>
              <a:rPr lang="en-US" sz="1600" dirty="0"/>
              <a:t> preprint arXiv:2010.02502 (2020)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1F2E607-11B8-A759-BE54-A9EBB8E09469}"/>
              </a:ext>
            </a:extLst>
          </p:cNvPr>
          <p:cNvSpPr/>
          <p:nvPr/>
        </p:nvSpPr>
        <p:spPr>
          <a:xfrm>
            <a:off x="6373368" y="170992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76F8B71-DA5D-BF0D-CA8A-211E500C3D5E}"/>
              </a:ext>
            </a:extLst>
          </p:cNvPr>
          <p:cNvSpPr/>
          <p:nvPr/>
        </p:nvSpPr>
        <p:spPr>
          <a:xfrm>
            <a:off x="1073020" y="2258568"/>
            <a:ext cx="10329548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●"/>
            </a:pP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2427D06-B0C6-7D45-803E-0534314F7568}"/>
              </a:ext>
            </a:extLst>
          </p:cNvPr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87794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029200" cy="5029200"/>
          </a:xfrm>
          <a:prstGeom prst="ellipse">
            <a:avLst/>
          </a:prstGeom>
          <a:solidFill>
            <a:srgbClr val="0B6E73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4572000" cy="4572000"/>
          </a:xfrm>
          <a:prstGeom prst="ellipse">
            <a:avLst/>
          </a:prstGeom>
          <a:solidFill>
            <a:srgbClr val="E8A33D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31720"/>
            <a:ext cx="121889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B6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997196" y="3611880"/>
            <a:ext cx="219456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79476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0" y="5897880"/>
            <a:ext cx="12188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Janhavi P. Tidke  •  janhavitidke015@gmail.com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1819</Words>
  <Application>Microsoft Office PowerPoint</Application>
  <PresentationFormat>Widescreen</PresentationFormat>
  <Paragraphs>331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Brightness-Aware Dynamic DDIM Step Scheduling</dc:title>
  <dc:subject>PptxGenJS Presentation</dc:subject>
  <dc:creator>Janhavi P. Tidke</dc:creator>
  <cp:lastModifiedBy>Shashank Tidke</cp:lastModifiedBy>
  <cp:revision>2</cp:revision>
  <dcterms:created xsi:type="dcterms:W3CDTF">2026-06-20T17:18:20Z</dcterms:created>
  <dcterms:modified xsi:type="dcterms:W3CDTF">2026-06-23T14:31:33Z</dcterms:modified>
</cp:coreProperties>
</file>